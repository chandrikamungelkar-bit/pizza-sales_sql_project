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8" r:id="rId11"/>
    <p:sldId id="269" r:id="rId12"/>
    <p:sldId id="270" r:id="rId13"/>
    <p:sldId id="267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337D-8EC4-98DF-8012-D371A0F64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089C2-7EC1-5687-55E6-255927BEB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0F88D-8CED-B885-37B7-05324B00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B0989-B584-13C3-06BC-6031DD66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3E76F-C499-C50F-B78D-DA4F1C11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8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835A-9311-BB84-B248-0761ED754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AA63-FC1B-B194-A1B3-D824A4D21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E41A5-8BE3-EFA1-E38B-6A3322534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854EE-1DB1-AC8D-504C-2AD6C7D6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2ABD5-AEDD-B26A-AEA0-30DC82FBA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64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6CEF1-F467-38B5-8C48-333811F33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1717F-B855-F722-D5CE-F685E89D3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4E66-740A-5A32-C34A-808FCADC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BD0F5-9341-1D3C-6ACD-431E4684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22639-1059-67FF-36DD-837CEB4B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3234-798A-2D4A-86D9-19C8341F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C0BD9-D750-B9EC-F57A-0FA45BA27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DCE0B-0075-BF77-7F2C-B56DAA215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71B9D-2913-864C-4219-92F9F768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E1199-C4A7-78EB-3702-5E58B9F29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C9DA4-4E03-DFF6-7767-30E77FD1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162C-62D5-DEEC-496E-3D46C9A4F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51A05-DE3F-C28D-7EA1-56AC31B24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78F0C-9513-E911-E617-4C1CEFF8D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0922D-BEC0-E282-7816-78D4B2A05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3A5C6-19AE-080E-C696-6FE9E39E3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12D92-BED1-5DDF-0F02-EEEED893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CB08D-1AD6-F451-F0BE-A70D75A6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2EA56C-E1CC-E049-1772-816D3A70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68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6267-CB5A-3631-4789-9FCAB5C20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A74FD-9EBF-56E2-AA60-57B5B7EF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D7CD7-0AD4-FCB6-3183-977D8DF5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C2CB-4812-6E6F-B193-DC08D8D0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0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B7555-B35C-A003-0314-44714383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3FA01-F4E7-AB0E-0DE4-7329B9298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6BEA9-7D0C-E4DE-1C36-9AC000D6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53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9961-E0FC-1590-AA4D-ADA4B025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E0008-0F35-2E70-066F-2CF3CE9F0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9BB2-3C84-151B-2D31-9738E51BB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A2AAA-8F4D-C6A2-E3CD-96FD2D5B7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54B27-C6A6-AB02-2B82-3E15582C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32B40-5877-03EB-3DF2-DE4D0CD7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82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DB73-3CE3-6BD4-DA2A-EC71A20F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A1852-8E37-FD4C-F53D-8CD59BC9A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FC81A-7F2F-7777-C311-91AB797AC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5B6DC-1A3B-DABC-9D6E-322EEA24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82164-DCA1-AED2-8B60-FD1C72A41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97CC0-A4AD-0F43-E7F6-748737E2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2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1053-D0C3-0DF0-2AC5-2D196776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559A3-945A-4DDD-7533-6F745CE35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003E6-D9CA-F4A3-D86E-6D1115B7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E88BE-46A9-0148-86AC-AECF9FC7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B3361-0A17-5CF1-BB96-5EEB33351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75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E124D-C783-F9ED-761B-EC9F729CF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30777-5310-808D-3A5C-89BA9A9ED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30FE7-3008-E6F4-59E3-2418AA67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16223-0EB6-A510-3740-B807FD0A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AF4E0-7967-0A91-7388-DA131228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0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8F071-D916-6F92-246F-98C2AF717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D1EA0-E8C5-4C24-5FDD-4BA53A25A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F540F-401B-67F2-4539-17F40C08B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31811-C12C-459D-86CB-933DD4B0B1B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BEDFE-1D28-E853-92D3-B7FC32672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78520-147E-7EEA-DCF0-9807D2094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D08F9-F21E-472D-A134-F4EE754E9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88753" y="1859340"/>
            <a:ext cx="82766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Chandrika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Mungelkar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Aspiring Data Analyst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Email:chandrika.mungelkar@gmail.com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| +91 8639479550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Tools: SQL, Excel, Power BI, Tableau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3CD68-6357-68A8-67ED-53313AF291CD}"/>
              </a:ext>
            </a:extLst>
          </p:cNvPr>
          <p:cNvSpPr txBox="1"/>
          <p:nvPr/>
        </p:nvSpPr>
        <p:spPr>
          <a:xfrm>
            <a:off x="1733550" y="904875"/>
            <a:ext cx="5610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Pizza Sales SQL Project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7073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61999" y="1608483"/>
            <a:ext cx="7203783" cy="409342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/>
            </a:pP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Order_details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order_details_id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order_id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pizza_id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quantity.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Orders: </a:t>
            </a:r>
            <a:r>
              <a:rPr lang="en-US" sz="20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order_id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date, time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Pizzas: </a:t>
            </a:r>
            <a:r>
              <a:rPr lang="en-US" sz="20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pizza_id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pizza_type_id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size, price  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Pizza_types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pizza_type_id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name, category 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b="0" i="0" u="none" strike="noStrike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b="0" i="0" u="none" strike="noStrike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1828800" y="904875"/>
            <a:ext cx="4886325" cy="46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3CD68-6357-68A8-67ED-53313AF291CD}"/>
              </a:ext>
            </a:extLst>
          </p:cNvPr>
          <p:cNvSpPr txBox="1"/>
          <p:nvPr/>
        </p:nvSpPr>
        <p:spPr>
          <a:xfrm>
            <a:off x="373484" y="904875"/>
            <a:ext cx="8675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Dataset:  </a:t>
            </a:r>
            <a:r>
              <a:rPr lang="en-US" sz="2800" dirty="0" err="1">
                <a:solidFill>
                  <a:srgbClr val="FFC000"/>
                </a:solidFill>
              </a:rPr>
              <a:t>Order_details</a:t>
            </a:r>
            <a:r>
              <a:rPr lang="en-US" sz="2800" dirty="0">
                <a:solidFill>
                  <a:srgbClr val="FFC000"/>
                </a:solidFill>
              </a:rPr>
              <a:t>, orders, </a:t>
            </a:r>
            <a:r>
              <a:rPr lang="en-US" sz="2800" dirty="0" err="1">
                <a:solidFill>
                  <a:srgbClr val="FFC000"/>
                </a:solidFill>
              </a:rPr>
              <a:t>Pizza_types</a:t>
            </a:r>
            <a:r>
              <a:rPr lang="en-US" sz="2800" dirty="0">
                <a:solidFill>
                  <a:srgbClr val="FFC000"/>
                </a:solidFill>
              </a:rPr>
              <a:t>, pizzas</a:t>
            </a:r>
            <a:r>
              <a:rPr lang="en-US" sz="2000" dirty="0">
                <a:solidFill>
                  <a:srgbClr val="FFC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756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1450"/>
            <a:ext cx="12192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074703" y="1760451"/>
            <a:ext cx="577389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  <a:effectLst/>
              </a:rPr>
              <a:t>Data Cleaning &amp; Preparation</a:t>
            </a:r>
            <a:r>
              <a:rPr lang="en-US" sz="2000" dirty="0">
                <a:solidFill>
                  <a:srgbClr val="FFC000"/>
                </a:solidFill>
                <a:effectLst/>
              </a:rPr>
              <a:t> Handled null values, removed duplicates, standardized data formats.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2000" b="1" dirty="0">
                <a:solidFill>
                  <a:srgbClr val="FFC000"/>
                </a:solidFill>
                <a:effectLst/>
              </a:rPr>
              <a:t>Joins &amp; Aggregations</a:t>
            </a:r>
            <a:r>
              <a:rPr lang="en-US" sz="2000" dirty="0">
                <a:solidFill>
                  <a:srgbClr val="FFC000"/>
                </a:solidFill>
                <a:effectLst/>
              </a:rPr>
              <a:t> Combined Orders, Pizzas, and Categories tables using SQL joins; applied SUM, COUNT, and AVG for key metrics.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2000" b="1" dirty="0">
                <a:solidFill>
                  <a:srgbClr val="FFC000"/>
                </a:solidFill>
                <a:effectLst/>
              </a:rPr>
              <a:t>Window Functions</a:t>
            </a:r>
            <a:r>
              <a:rPr lang="en-US" sz="2000" dirty="0">
                <a:solidFill>
                  <a:srgbClr val="FFC000"/>
                </a:solidFill>
                <a:effectLst/>
              </a:rPr>
              <a:t> Used RANK and ROW_NUMBER to identify top pizzas by revenue and quantity.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2000" b="1" dirty="0">
                <a:solidFill>
                  <a:srgbClr val="FFC000"/>
                </a:solidFill>
                <a:effectLst/>
              </a:rPr>
              <a:t>Business Metrics Analysis</a:t>
            </a:r>
            <a:r>
              <a:rPr lang="en-US" sz="2000" dirty="0">
                <a:solidFill>
                  <a:srgbClr val="FFC000"/>
                </a:solidFill>
                <a:effectLst/>
              </a:rPr>
              <a:t> Calculated revenue contribution %, order distribution by time, and customer segmentation for actionable insights.</a:t>
            </a:r>
            <a:br>
              <a:rPr lang="en-US" sz="2000" dirty="0">
                <a:solidFill>
                  <a:srgbClr val="FFC000"/>
                </a:solidFill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2614612" y="492242"/>
            <a:ext cx="4886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</a:rPr>
              <a:t>SQL Skills Demonstrated</a:t>
            </a:r>
          </a:p>
        </p:txBody>
      </p:sp>
    </p:spTree>
    <p:extLst>
      <p:ext uri="{BB962C8B-B14F-4D97-AF65-F5344CB8AC3E}">
        <p14:creationId xmlns:p14="http://schemas.microsoft.com/office/powerpoint/2010/main" val="9368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84028" y="1917859"/>
            <a:ext cx="577389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Skills Demonstrated</a:t>
            </a:r>
            <a:br>
              <a:rPr lang="en-US" sz="2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Cleaning (nulls, duplicates)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Joins (Orders, Pizzas, Categories)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</a:t>
            </a: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Aggregations (SUM, COUNT, AVG)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4) </a:t>
            </a: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Window Functions (RANK, ROW_NUMBER)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5) </a:t>
            </a: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 Metrics (revenue, order distribution, contribution %)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-428625" y="874574"/>
            <a:ext cx="11020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2000" i="1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 pizza sales to uncover trends, revenue drivers, and customer preferences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64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65888" y="1028344"/>
            <a:ext cx="709048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orders placed</a:t>
            </a:r>
            <a:br>
              <a:rPr lang="en-US" sz="14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revenue generated</a:t>
            </a: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2661200" y="330587"/>
            <a:ext cx="4886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13D90F-3E12-681D-E485-DADB8CF5A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41" y="1804986"/>
            <a:ext cx="2315244" cy="9096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0DC0A7-01A2-31DA-392D-8A878DC47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02" y="3776133"/>
            <a:ext cx="3973997" cy="1840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41FE80-6F74-93AA-2593-E038F4B4F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4930" y="3990961"/>
            <a:ext cx="2315243" cy="10195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2798FE-3B5D-88BF-2483-9A90C0EC57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408" y="1446245"/>
            <a:ext cx="2668122" cy="148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6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1209675" y="1195387"/>
            <a:ext cx="4886325" cy="46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8BFD41-A712-F8B3-5EDB-1855232069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49263" y="-307776"/>
            <a:ext cx="8075612" cy="717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		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Highest‑Priced Pizza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Most Common Pizza Size Ordered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7E4430-94B2-67F3-C077-3737EE976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15" y="569168"/>
            <a:ext cx="3876675" cy="2069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557973-9FA6-D316-98F5-70F8B52DC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729" y="1054315"/>
            <a:ext cx="2122506" cy="10730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AA2062B-793B-5A4E-6C39-B01ED4443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39" y="3277821"/>
            <a:ext cx="4352730" cy="25444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083BB27-5854-7011-FA14-8C9E081D7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729" y="3601616"/>
            <a:ext cx="2364996" cy="94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5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66980" y="581297"/>
            <a:ext cx="99744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List the top 5 most ordered pizza along with their quantities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49286C-DFB7-AC90-6FAF-7CA27AE15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14" y="1845638"/>
            <a:ext cx="4823878" cy="24614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1D2449-E583-13B9-9AF2-DDCA0DFE8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650" y="2362923"/>
            <a:ext cx="2934199" cy="142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77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565918" y="236541"/>
            <a:ext cx="57738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Intermediate </a:t>
            </a:r>
            <a:r>
              <a:rPr lang="en-US" sz="28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447869" y="1043652"/>
            <a:ext cx="9787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 the necessary tables to find the total quantity of each pizza category ordered.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D28301-23EB-A2D6-8934-1B75BDD62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4" y="1685785"/>
            <a:ext cx="3878916" cy="1851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FEE4B8-7174-FD46-9FA2-01725B87C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042" y="2008890"/>
            <a:ext cx="2567267" cy="11743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BE01B4-51FF-FB33-E0D4-7DFC86816569}"/>
              </a:ext>
            </a:extLst>
          </p:cNvPr>
          <p:cNvSpPr txBox="1"/>
          <p:nvPr/>
        </p:nvSpPr>
        <p:spPr>
          <a:xfrm>
            <a:off x="1371600" y="3899939"/>
            <a:ext cx="8453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distribution of orders by hour of the day.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483188-8B5B-CE13-65DF-C0897F266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47" y="4545537"/>
            <a:ext cx="4618120" cy="15637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5C14F6-5C29-964A-4EFD-A9E37DECB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2913" y="4501588"/>
            <a:ext cx="1487765" cy="165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263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679" y="0"/>
            <a:ext cx="1561395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819150" y="2654701"/>
            <a:ext cx="10553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the orders by date and calculate the average number of pizzas ordered per day.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5C23C2-DDC7-130E-A7D5-4233D603E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748" y="924961"/>
            <a:ext cx="2007868" cy="1207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2CFBD0-4CBC-52B8-E445-645495C6B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44" y="823864"/>
            <a:ext cx="4534582" cy="12070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BA4307B-6F61-4C4F-C465-412A32445D2F}"/>
              </a:ext>
            </a:extLst>
          </p:cNvPr>
          <p:cNvSpPr txBox="1"/>
          <p:nvPr/>
        </p:nvSpPr>
        <p:spPr>
          <a:xfrm>
            <a:off x="1983678" y="314753"/>
            <a:ext cx="7581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 relevant tables to find the category-wise distribution of pizzas</a:t>
            </a: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E8B286-B91F-0337-7B1F-6E7AB15AC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197" y="3429000"/>
            <a:ext cx="3863675" cy="18670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6664D4-E022-4834-EA2F-24AB315EE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067" y="3872797"/>
            <a:ext cx="2114549" cy="80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2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77388" cy="701853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472096" y="977934"/>
            <a:ext cx="1026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Determine the top 3 most ordered pizza types based on revenue.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E02E5-B54A-88E4-18BE-0C5482A4E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92" y="1546298"/>
            <a:ext cx="3558848" cy="1767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E7F8A-E661-647B-DA90-50115E8BA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647" y="1760609"/>
            <a:ext cx="2808515" cy="11849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513EE2-73C7-981F-7A19-0DF94CFC1BEC}"/>
              </a:ext>
            </a:extLst>
          </p:cNvPr>
          <p:cNvSpPr txBox="1"/>
          <p:nvPr/>
        </p:nvSpPr>
        <p:spPr>
          <a:xfrm>
            <a:off x="1632857" y="326571"/>
            <a:ext cx="6316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Analysis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88E0F4-888E-D1D0-504B-89A1966C0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049" y="4201908"/>
            <a:ext cx="4884843" cy="1783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835597-CAAD-7C23-323A-3E1D18503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4940" y="4453391"/>
            <a:ext cx="2179509" cy="12802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F0A731-EDAD-66B0-CB39-DBF6F1BE29CF}"/>
              </a:ext>
            </a:extLst>
          </p:cNvPr>
          <p:cNvSpPr txBox="1"/>
          <p:nvPr/>
        </p:nvSpPr>
        <p:spPr>
          <a:xfrm>
            <a:off x="799127" y="3527926"/>
            <a:ext cx="6895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the cumulative revenue generated over time.</a:t>
            </a:r>
          </a:p>
        </p:txBody>
      </p:sp>
    </p:spTree>
    <p:extLst>
      <p:ext uri="{BB962C8B-B14F-4D97-AF65-F5344CB8AC3E}">
        <p14:creationId xmlns:p14="http://schemas.microsoft.com/office/powerpoint/2010/main" val="2105471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47869" y="280118"/>
            <a:ext cx="106835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Determine the top 3 most ordered pizza types based on revenue for each pizza category.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99C9B7-C4C9-D6D9-DAE2-6C176F3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69" y="1197545"/>
            <a:ext cx="5715495" cy="26900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E84151-2212-82D1-9C2C-A7CAAFFF2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090" y="4189445"/>
            <a:ext cx="3456673" cy="169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87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800686B-FC88-50CB-AC1F-BBA88E7150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718974" y="645795"/>
            <a:ext cx="57738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Insights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1576874" y="2962275"/>
            <a:ext cx="4886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0360E6B-B0D5-DEEE-525A-60BA61792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50" y="1557580"/>
            <a:ext cx="885475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Inventory Planning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Medium size pizzas are most popular, stock accordingly.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Promotions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Pepperoni &amp; BBQ Chicken generate high revenue, target them in offers.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Staffing Optimization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Peak orders around lunch/dinner hours, adjust shifts.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Menu Strategy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Supreme &amp; Classic categories contribute most revenue, expand variety.</a:t>
            </a:r>
          </a:p>
        </p:txBody>
      </p:sp>
    </p:spTree>
    <p:extLst>
      <p:ext uri="{BB962C8B-B14F-4D97-AF65-F5344CB8AC3E}">
        <p14:creationId xmlns:p14="http://schemas.microsoft.com/office/powerpoint/2010/main" val="1167530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373224" y="270393"/>
            <a:ext cx="812696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SQL enabled data cleaning, joins, aggregations, and window functions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 revealed top pizzas, revenue drivers, and customer preferences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 insights support better inventory, marketing, and staffing decisions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Next step: Build interactive dashboards in Power BI/Tableau for real‑time monitoring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window functions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 revealed top pizzas, revenue drivers, and customer preferences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 insights support better inventory, marketing, and staffing decisions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969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EEEB3-C75D-A59B-ECA6-047538D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E32680-69F0-FE60-1EE2-C4AC9C649C76}"/>
              </a:ext>
            </a:extLst>
          </p:cNvPr>
          <p:cNvSpPr txBox="1"/>
          <p:nvPr/>
        </p:nvSpPr>
        <p:spPr>
          <a:xfrm>
            <a:off x="1828800" y="904875"/>
            <a:ext cx="4886325" cy="46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E2BBC4-7382-62B1-DF27-9CA532FA6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608" y="498683"/>
            <a:ext cx="7069564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Thank You!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Pizza Sales SQL Project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Presented by: Chandrika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Mungelkar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 Sales SQL Project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📧 chandrika.mungelkar@gmail.com | 📞 +91 8639479550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Questions welcome!</a:t>
            </a:r>
          </a:p>
        </p:txBody>
      </p:sp>
    </p:spTree>
    <p:extLst>
      <p:ext uri="{BB962C8B-B14F-4D97-AF65-F5344CB8AC3E}">
        <p14:creationId xmlns:p14="http://schemas.microsoft.com/office/powerpoint/2010/main" val="1183534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604</Words>
  <Application>Microsoft Office PowerPoint</Application>
  <PresentationFormat>Widescreen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Chandrika Mungelkar Aspiring Data Analyst Email:chandrika.mungelkar@gmail.com | +91 8639479550 Tools: SQL, Excel, Power BI, Tableau</vt:lpstr>
      <vt:lpstr> Order_details: order_details_id, order_id, pizza_id, quantity.  Orders: order_id, date, time  Pizzas: pizza_id, pizza_type_id, size, price    Pizza_types: pizza_type_id, name, category      </vt:lpstr>
      <vt:lpstr>Data Cleaning &amp; Preparation Handled null values, removed duplicates, standardized data formats. Joins &amp; Aggregations Combined Orders, Pizzas, and Categories tables using SQL joins; applied SUM, COUNT, and AVG for key metrics. Window Functions Used RANK and ROW_NUMBER to identify top pizzas by revenue and quantity. Business Metrics Analysis Calculated revenue contribution %, order distribution by time, and customer segmentation for actionable insights. </vt:lpstr>
      <vt:lpstr>SQL Skills Demonstrated  1) Data Cleaning (nulls, duplicates) 2) Joins (Orders, Pizzas, Categories) 3) Aggregations (SUM, COUNT, AVG) 4) Window Functions (RANK, ROW_NUMBER) 5) Business Metrics (revenue, order distribution, contribution %) </vt:lpstr>
      <vt:lpstr>Total orders placed           Total revenue generated        </vt:lpstr>
      <vt:lpstr>   Highest‑Priced Pizza         Most Common Pizza Size Ordered            </vt:lpstr>
      <vt:lpstr>List the top 5 most ordered pizza along with their quantities </vt:lpstr>
      <vt:lpstr>Intermediate Analysis</vt:lpstr>
      <vt:lpstr>PowerPoint Presentation</vt:lpstr>
      <vt:lpstr>Determine the top 3 most ordered pizza types based on revenue.</vt:lpstr>
      <vt:lpstr>Determine the top 3 most ordered pizza types based on revenue for each pizza category.</vt:lpstr>
      <vt:lpstr>Business Insights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hamilpur</dc:creator>
  <cp:lastModifiedBy>varun hamilpur</cp:lastModifiedBy>
  <cp:revision>4</cp:revision>
  <dcterms:created xsi:type="dcterms:W3CDTF">2026-08-04T10:46:46Z</dcterms:created>
  <dcterms:modified xsi:type="dcterms:W3CDTF">2026-08-05T11:32:46Z</dcterms:modified>
</cp:coreProperties>
</file>